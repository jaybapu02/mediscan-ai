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Lora" pitchFamily="2" charset="0"/>
      <p:regular r:id="rId9"/>
    </p:embeddedFont>
    <p:embeddedFont>
      <p:font typeface="Source Sans 3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FA53EC-D8EE-4376-9F67-256DB740946A}" v="1" dt="2025-11-03T12:25:09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chandra das" userId="725a57e2c738d5f3" providerId="LiveId" clId="{8D66702C-ADA1-4B7C-8219-BC65ACE1BC13}"/>
    <pc:docChg chg="undo custSel modSld modMainMaster">
      <pc:chgData name="jaychandra das" userId="725a57e2c738d5f3" providerId="LiveId" clId="{8D66702C-ADA1-4B7C-8219-BC65ACE1BC13}" dt="2025-11-18T13:53:35.074" v="74" actId="207"/>
      <pc:docMkLst>
        <pc:docMk/>
      </pc:docMkLst>
      <pc:sldChg chg="modSp mod">
        <pc:chgData name="jaychandra das" userId="725a57e2c738d5f3" providerId="LiveId" clId="{8D66702C-ADA1-4B7C-8219-BC65ACE1BC13}" dt="2025-11-18T13:53:35.074" v="74" actId="207"/>
        <pc:sldMkLst>
          <pc:docMk/>
          <pc:sldMk cId="0" sldId="256"/>
        </pc:sldMkLst>
        <pc:spChg chg="mod">
          <ac:chgData name="jaychandra das" userId="725a57e2c738d5f3" providerId="LiveId" clId="{8D66702C-ADA1-4B7C-8219-BC65ACE1BC13}" dt="2025-11-18T13:53:18.832" v="71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ychandra das" userId="725a57e2c738d5f3" providerId="LiveId" clId="{8D66702C-ADA1-4B7C-8219-BC65ACE1BC13}" dt="2025-11-18T13:53:35.074" v="74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ychandra das" userId="725a57e2c738d5f3" providerId="LiveId" clId="{8D66702C-ADA1-4B7C-8219-BC65ACE1BC13}" dt="2025-11-03T12:24:15.109" v="47" actId="14100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jaychandra das" userId="725a57e2c738d5f3" providerId="LiveId" clId="{8D66702C-ADA1-4B7C-8219-BC65ACE1BC13}" dt="2025-11-03T12:25:09.393" v="62"/>
        <pc:sldMkLst>
          <pc:docMk/>
          <pc:sldMk cId="0" sldId="257"/>
        </pc:sldMkLst>
        <pc:spChg chg="mod">
          <ac:chgData name="jaychandra das" userId="725a57e2c738d5f3" providerId="LiveId" clId="{8D66702C-ADA1-4B7C-8219-BC65ACE1BC13}" dt="2025-11-03T12:25:09.393" v="62"/>
          <ac:spMkLst>
            <pc:docMk/>
            <pc:sldMk cId="0" sldId="257"/>
            <ac:spMk id="3" creationId="{00000000-0000-0000-0000-000000000000}"/>
          </ac:spMkLst>
        </pc:spChg>
      </pc:sldChg>
      <pc:sldChg chg="delSp mod">
        <pc:chgData name="jaychandra das" userId="725a57e2c738d5f3" providerId="LiveId" clId="{8D66702C-ADA1-4B7C-8219-BC65ACE1BC13}" dt="2025-11-03T12:25:18.857" v="63" actId="21"/>
        <pc:sldMkLst>
          <pc:docMk/>
          <pc:sldMk cId="0" sldId="258"/>
        </pc:sldMkLst>
      </pc:sldChg>
      <pc:sldChg chg="delSp mod">
        <pc:chgData name="jaychandra das" userId="725a57e2c738d5f3" providerId="LiveId" clId="{8D66702C-ADA1-4B7C-8219-BC65ACE1BC13}" dt="2025-11-03T12:27:53.605" v="68" actId="21"/>
        <pc:sldMkLst>
          <pc:docMk/>
          <pc:sldMk cId="0" sldId="259"/>
        </pc:sldMkLst>
      </pc:sldChg>
      <pc:sldChg chg="delSp modSp mod">
        <pc:chgData name="jaychandra das" userId="725a57e2c738d5f3" providerId="LiveId" clId="{8D66702C-ADA1-4B7C-8219-BC65ACE1BC13}" dt="2025-11-03T12:27:59.090" v="69" actId="21"/>
        <pc:sldMkLst>
          <pc:docMk/>
          <pc:sldMk cId="0" sldId="260"/>
        </pc:sldMkLst>
        <pc:picChg chg="mod">
          <ac:chgData name="jaychandra das" userId="725a57e2c738d5f3" providerId="LiveId" clId="{8D66702C-ADA1-4B7C-8219-BC65ACE1BC13}" dt="2025-11-03T12:27:00.282" v="65" actId="1076"/>
          <ac:picMkLst>
            <pc:docMk/>
            <pc:sldMk cId="0" sldId="260"/>
            <ac:picMk id="2" creationId="{00000000-0000-0000-0000-000000000000}"/>
          </ac:picMkLst>
        </pc:picChg>
      </pc:sldChg>
      <pc:sldChg chg="delSp mod">
        <pc:chgData name="jaychandra das" userId="725a57e2c738d5f3" providerId="LiveId" clId="{8D66702C-ADA1-4B7C-8219-BC65ACE1BC13}" dt="2025-11-03T12:28:08.509" v="70" actId="21"/>
        <pc:sldMkLst>
          <pc:docMk/>
          <pc:sldMk cId="0" sldId="261"/>
        </pc:sldMkLst>
      </pc:sldChg>
      <pc:sldMasterChg chg="modSldLayout">
        <pc:chgData name="jaychandra das" userId="725a57e2c738d5f3" providerId="LiveId" clId="{8D66702C-ADA1-4B7C-8219-BC65ACE1BC13}" dt="2025-11-03T12:23:03.236" v="5" actId="21"/>
        <pc:sldMasterMkLst>
          <pc:docMk/>
          <pc:sldMasterMk cId="0" sldId="2147483648"/>
        </pc:sldMasterMkLst>
        <pc:sldLayoutChg chg="delSp mod">
          <pc:chgData name="jaychandra das" userId="725a57e2c738d5f3" providerId="LiveId" clId="{8D66702C-ADA1-4B7C-8219-BC65ACE1BC13}" dt="2025-11-03T12:22:36.626" v="0" actId="21"/>
          <pc:sldLayoutMkLst>
            <pc:docMk/>
            <pc:sldMasterMk cId="0" sldId="2147483648"/>
            <pc:sldLayoutMk cId="0" sldId="2147483650"/>
          </pc:sldLayoutMkLst>
        </pc:sldLayoutChg>
        <pc:sldLayoutChg chg="delSp mod">
          <pc:chgData name="jaychandra das" userId="725a57e2c738d5f3" providerId="LiveId" clId="{8D66702C-ADA1-4B7C-8219-BC65ACE1BC13}" dt="2025-11-03T12:22:40.839" v="1" actId="21"/>
          <pc:sldLayoutMkLst>
            <pc:docMk/>
            <pc:sldMasterMk cId="0" sldId="2147483648"/>
            <pc:sldLayoutMk cId="0" sldId="2147483651"/>
          </pc:sldLayoutMkLst>
        </pc:sldLayoutChg>
        <pc:sldLayoutChg chg="delSp mod">
          <pc:chgData name="jaychandra das" userId="725a57e2c738d5f3" providerId="LiveId" clId="{8D66702C-ADA1-4B7C-8219-BC65ACE1BC13}" dt="2025-11-03T12:22:45.876" v="2" actId="21"/>
          <pc:sldLayoutMkLst>
            <pc:docMk/>
            <pc:sldMasterMk cId="0" sldId="2147483648"/>
            <pc:sldLayoutMk cId="0" sldId="2147483652"/>
          </pc:sldLayoutMkLst>
        </pc:sldLayoutChg>
        <pc:sldLayoutChg chg="delSp mod">
          <pc:chgData name="jaychandra das" userId="725a57e2c738d5f3" providerId="LiveId" clId="{8D66702C-ADA1-4B7C-8219-BC65ACE1BC13}" dt="2025-11-03T12:22:52.280" v="3" actId="21"/>
          <pc:sldLayoutMkLst>
            <pc:docMk/>
            <pc:sldMasterMk cId="0" sldId="2147483648"/>
            <pc:sldLayoutMk cId="0" sldId="2147483653"/>
          </pc:sldLayoutMkLst>
        </pc:sldLayoutChg>
        <pc:sldLayoutChg chg="delSp mod">
          <pc:chgData name="jaychandra das" userId="725a57e2c738d5f3" providerId="LiveId" clId="{8D66702C-ADA1-4B7C-8219-BC65ACE1BC13}" dt="2025-11-03T12:22:57.921" v="4" actId="21"/>
          <pc:sldLayoutMkLst>
            <pc:docMk/>
            <pc:sldMasterMk cId="0" sldId="2147483648"/>
            <pc:sldLayoutMk cId="0" sldId="2147483654"/>
          </pc:sldLayoutMkLst>
        </pc:sldLayoutChg>
        <pc:sldLayoutChg chg="delSp mod">
          <pc:chgData name="jaychandra das" userId="725a57e2c738d5f3" providerId="LiveId" clId="{8D66702C-ADA1-4B7C-8219-BC65ACE1BC13}" dt="2025-11-03T12:23:03.236" v="5" actId="21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947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7842" y="651986"/>
            <a:ext cx="5565458" cy="695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chemeClr val="accent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MediScan AI</a:t>
            </a:r>
            <a:endParaRPr lang="en-US" sz="4350" dirty="0">
              <a:solidFill>
                <a:schemeClr val="accent6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827842" y="1442085"/>
            <a:ext cx="7488317" cy="1113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chemeClr val="accent6">
                    <a:lumMod val="20000"/>
                    <a:lumOff val="80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 Intelligent System for Simplified Medical Report Interpretation</a:t>
            </a:r>
            <a:endParaRPr lang="en-US" sz="35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827842" y="2910006"/>
            <a:ext cx="7488317" cy="494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By: Jaychandra Das &amp; Mihir Parida</a:t>
            </a:r>
          </a:p>
          <a:p>
            <a:pPr marL="0" indent="0" algn="l">
              <a:lnSpc>
                <a:spcPts val="3700"/>
              </a:lnSpc>
              <a:buNone/>
            </a:pPr>
            <a:endParaRPr lang="en-US" sz="2300" dirty="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7842" y="3737610"/>
            <a:ext cx="7488317" cy="384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50"/>
              </a:lnSpc>
              <a:buNone/>
            </a:pPr>
            <a:r>
              <a:rPr lang="en-US" sz="6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Empowering patients through understandable healthcare insights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49975" y="989886"/>
            <a:ext cx="7428667" cy="630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INTODUCTION</a:t>
            </a:r>
            <a:endParaRPr lang="en-US" sz="3950" dirty="0"/>
          </a:p>
        </p:txBody>
      </p:sp>
      <p:sp>
        <p:nvSpPr>
          <p:cNvPr id="4" name="Text 2"/>
          <p:cNvSpPr/>
          <p:nvPr/>
        </p:nvSpPr>
        <p:spPr>
          <a:xfrm>
            <a:off x="749975" y="1941433"/>
            <a:ext cx="13130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Medical reports often contain complex data difficult for patients to interpret. </a:t>
            </a: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MediScan AI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analyses test results (like blood tests) and presents them in simple, human-understandable language.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9975" y="2868216"/>
            <a:ext cx="6458069" cy="1618655"/>
          </a:xfrm>
          <a:prstGeom prst="roundRect">
            <a:avLst>
              <a:gd name="adj" fmla="val 9039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95" y="2868216"/>
            <a:ext cx="121920" cy="16186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6088" y="3112889"/>
            <a:ext cx="2631281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 Empowerment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86088" y="3556397"/>
            <a:ext cx="58772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users to make informed health decisions without needing deep medical knowledge.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22237" y="2868216"/>
            <a:ext cx="6458188" cy="1618655"/>
          </a:xfrm>
          <a:prstGeom prst="roundRect">
            <a:avLst>
              <a:gd name="adj" fmla="val 9039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757" y="2868216"/>
            <a:ext cx="121920" cy="16186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58351" y="3112889"/>
            <a:ext cx="2902268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Transparent Information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758351" y="3556397"/>
            <a:ext cx="58774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Assists doctors, patients, and healthcare platforms in delivering accessible and clear information.</a:t>
            </a:r>
            <a:endParaRPr lang="en-US" sz="16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089" y="4866203"/>
            <a:ext cx="4609386" cy="257151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0806" y="4866203"/>
            <a:ext cx="4609386" cy="2571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1643" y="1178838"/>
            <a:ext cx="7211139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Objectives of MediScan AI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643" y="2145268"/>
            <a:ext cx="652820" cy="652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643" y="3070027"/>
            <a:ext cx="2560201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Automatic Analysis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61643" y="3520440"/>
            <a:ext cx="6417588" cy="34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an AI tool for automatic analysis of medical reports.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1169" y="2145268"/>
            <a:ext cx="652820" cy="6528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1169" y="3070027"/>
            <a:ext cx="2560201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 Risks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451169" y="3520440"/>
            <a:ext cx="6417588" cy="34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abnormalities and highlight potential health risks in test results.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643" y="4303752"/>
            <a:ext cx="652820" cy="6528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1643" y="5228511"/>
            <a:ext cx="2560201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Digital Accessibility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61643" y="5678924"/>
            <a:ext cx="6417588" cy="34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digital healthcare accessibility, especially in rural areas.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1169" y="4303752"/>
            <a:ext cx="652820" cy="6528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1169" y="5228511"/>
            <a:ext cx="2560201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Doctor Support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451169" y="5678924"/>
            <a:ext cx="6417588" cy="69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doctors with quick preliminary analysis for improved efficiency.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087993" y="6864787"/>
            <a:ext cx="12780764" cy="34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goal is to provide clear, patient-friendly summaries of complex data.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761643" y="6619994"/>
            <a:ext cx="30480" cy="837724"/>
          </a:xfrm>
          <a:prstGeom prst="rect">
            <a:avLst/>
          </a:prstGeom>
          <a:solidFill>
            <a:srgbClr val="F98AC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8531" y="830699"/>
            <a:ext cx="7834193" cy="528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Methodology: From Data to Explanation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28531" y="1628299"/>
            <a:ext cx="718423" cy="1077635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083" y="2032397"/>
            <a:ext cx="269319" cy="269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6500" y="1807845"/>
            <a:ext cx="2113002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Collection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26500" y="2179677"/>
            <a:ext cx="12475369" cy="28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Medical datasets (test values, reference ranges) used for model training.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8531" y="2885480"/>
            <a:ext cx="718423" cy="1077635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083" y="3289578"/>
            <a:ext cx="269319" cy="2693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6500" y="3065026"/>
            <a:ext cx="2113002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Preprocessing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26500" y="3436858"/>
            <a:ext cx="12475369" cy="28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Standardizes test names, normalizes ranges, and cleans raw data.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8531" y="4142661"/>
            <a:ext cx="718423" cy="1077635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083" y="4546759"/>
            <a:ext cx="269319" cy="2693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26500" y="4322207"/>
            <a:ext cx="2113002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Model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526500" y="4694039"/>
            <a:ext cx="12475369" cy="28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 machine learning and rule-based reasoning to interpret results.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8531" y="5399842"/>
            <a:ext cx="718423" cy="1077635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3083" y="5803940"/>
            <a:ext cx="269319" cy="2693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26500" y="5579388"/>
            <a:ext cx="2113002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Language Generation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526500" y="5951220"/>
            <a:ext cx="12475369" cy="28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Converts numerical data into meaningful, simple explanations.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8531" y="6657023"/>
            <a:ext cx="718423" cy="1077635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3083" y="7061121"/>
            <a:ext cx="269319" cy="269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26500" y="6836569"/>
            <a:ext cx="2113002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Visualization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526500" y="7208401"/>
            <a:ext cx="12475369" cy="28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Presents results through a clean, interactive user interface.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7236" y="1205151"/>
            <a:ext cx="7557730" cy="627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Interpreting a Blood Test Report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747236" y="2153126"/>
            <a:ext cx="7649528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takes a sample blood test report as input and provides a simplified, actionable explanation.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47236" y="3289697"/>
            <a:ext cx="2511743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Example: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47236" y="3817144"/>
            <a:ext cx="2747248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Hemoglobin: 10.8 g/dL (</a:t>
            </a:r>
            <a:r>
              <a:rPr lang="en-US" sz="1650" dirty="0">
                <a:solidFill>
                  <a:srgbClr val="FF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7236" y="4574738"/>
            <a:ext cx="2747248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Glucose: 98 mg/dL (</a:t>
            </a:r>
            <a:r>
              <a:rPr lang="en-US" sz="1650" dirty="0">
                <a:solidFill>
                  <a:srgbClr val="008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Normal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7236" y="5332333"/>
            <a:ext cx="2747248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Cholesterol: 220 mg/dL (</a:t>
            </a:r>
            <a:r>
              <a:rPr lang="en-US" sz="1650" dirty="0">
                <a:solidFill>
                  <a:srgbClr val="FF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022884" y="3289697"/>
            <a:ext cx="4047053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Output (Simplified Explanation):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343043" y="3843814"/>
            <a:ext cx="4061222" cy="1707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“Your hemoglobin level is slightly low, which may indicate fatigue or anemia. Glucose is within the normal range, but your cholesterol level is high — consider a balanced diet and exercise.”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022884" y="3843814"/>
            <a:ext cx="30480" cy="1707356"/>
          </a:xfrm>
          <a:prstGeom prst="rect">
            <a:avLst/>
          </a:prstGeom>
          <a:solidFill>
            <a:srgbClr val="F98AC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316" y="853083"/>
            <a:ext cx="5251966" cy="525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and Next Steps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25316" y="1646515"/>
            <a:ext cx="7893368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MediScan AI demonstrates how AI can transform healthcare accessibility, reducing patient confusion and dependency.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5316" y="2419231"/>
            <a:ext cx="7893368" cy="2847856"/>
          </a:xfrm>
          <a:prstGeom prst="roundRect">
            <a:avLst>
              <a:gd name="adj" fmla="val 941"/>
            </a:avLst>
          </a:prstGeom>
          <a:solidFill>
            <a:srgbClr val="444752"/>
          </a:solidFill>
          <a:ln/>
        </p:spPr>
      </p:sp>
      <p:sp>
        <p:nvSpPr>
          <p:cNvPr id="7" name="Shape 4"/>
          <p:cNvSpPr/>
          <p:nvPr/>
        </p:nvSpPr>
        <p:spPr>
          <a:xfrm>
            <a:off x="625316" y="2419231"/>
            <a:ext cx="7893368" cy="1280993"/>
          </a:xfrm>
          <a:prstGeom prst="roundRect">
            <a:avLst>
              <a:gd name="adj" fmla="val 2092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803910" y="2597825"/>
            <a:ext cx="2102048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Integration Potential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3910" y="2967752"/>
            <a:ext cx="7536180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 potential for integration into hospitals, telemedicine platforms, and diagnostic centers.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5316" y="3700224"/>
            <a:ext cx="7893368" cy="1566863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1" name="Shape 8"/>
          <p:cNvSpPr/>
          <p:nvPr/>
        </p:nvSpPr>
        <p:spPr>
          <a:xfrm>
            <a:off x="625316" y="3700224"/>
            <a:ext cx="7893368" cy="22860"/>
          </a:xfrm>
          <a:prstGeom prst="roundRect">
            <a:avLst>
              <a:gd name="adj" fmla="val 117242"/>
            </a:avLst>
          </a:prstGeom>
          <a:solidFill>
            <a:srgbClr val="5D606B"/>
          </a:solidFill>
          <a:ln/>
        </p:spPr>
      </p:sp>
      <p:sp>
        <p:nvSpPr>
          <p:cNvPr id="12" name="Shape 9"/>
          <p:cNvSpPr/>
          <p:nvPr/>
        </p:nvSpPr>
        <p:spPr>
          <a:xfrm>
            <a:off x="4348639" y="3488353"/>
            <a:ext cx="446603" cy="446603"/>
          </a:xfrm>
          <a:prstGeom prst="roundRect">
            <a:avLst>
              <a:gd name="adj" fmla="val 6001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0319" y="3599914"/>
            <a:ext cx="223242" cy="2232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3910" y="4146828"/>
            <a:ext cx="2102048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Evolution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803910" y="4516755"/>
            <a:ext cx="7536180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 evolve into a complete AI health assistant, predicting diseases and providing lifestyle recommendations.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25316" y="5535097"/>
            <a:ext cx="7893368" cy="217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MediScan AI — Because understanding your health should be simple.</a:t>
            </a:r>
            <a:endParaRPr lang="en-US" sz="4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390</Words>
  <Application>Microsoft Office PowerPoint</Application>
  <PresentationFormat>Custom</PresentationFormat>
  <Paragraphs>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Lora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lastModifiedBy>jaychandra das</cp:lastModifiedBy>
  <cp:revision>1</cp:revision>
  <dcterms:created xsi:type="dcterms:W3CDTF">2025-11-03T12:20:07Z</dcterms:created>
  <dcterms:modified xsi:type="dcterms:W3CDTF">2025-11-18T13:53:38Z</dcterms:modified>
</cp:coreProperties>
</file>